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31bbd05-d4b7-5f81-89fa-76b862edaec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Message" id="{654d0dda-953f-55a1-8c40-6f183976eb54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ontent" id="{680341f9-ae89-5045-8310-774bd47b6189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Data and decision" id="{bdd555b3-da6a-5145-9008-528574a0363d}">
          <p14:sldIdLst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Closing and editorial" id="{c36b8ea4-3897-5e88-808f-1ffe6813424e}">
          <p14:sldIdLst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Kicker"/>
          <p:cNvSpPr/>
          <p:nvPr/>
        </p:nvSpPr>
        <p:spPr>
          <a:xfrm>
            <a:off x="54864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Home energy</a:t>
            </a:r>
            <a:endParaRPr lang="en-GB" sz="1000" dirty="0"/>
          </a:p>
        </p:txBody>
      </p:sp>
      <p:sp>
        <p:nvSpPr>
          <p:cNvPr id="4" name="Title"/>
          <p:cNvSpPr/>
          <p:nvPr/>
        </p:nvSpPr>
        <p:spPr>
          <a:xfrm>
            <a:off x="548640" y="24688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Cutting the heating bill</a:t>
            </a:r>
            <a:endParaRPr lang="en-GB" sz="4000" dirty="0"/>
          </a:p>
        </p:txBody>
      </p:sp>
      <p:sp>
        <p:nvSpPr>
          <p:cNvPr id="5" name="Subtitle"/>
          <p:cNvSpPr/>
          <p:nvPr/>
        </p:nvSpPr>
        <p:spPr>
          <a:xfrm>
            <a:off x="548640" y="4343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to do first, and what it pays back</a:t>
            </a:r>
            <a:endParaRPr lang="en-GB" sz="1600" dirty="0"/>
          </a:p>
        </p:txBody>
      </p:sp>
      <p:sp>
        <p:nvSpPr>
          <p:cNvPr id="6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760720"/>
            <a:ext cx="11094415" cy="9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8" name="Date"/>
          <p:cNvSpPr/>
          <p:nvPr/>
        </p:nvSpPr>
        <p:spPr>
          <a:xfrm>
            <a:off x="448056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Autumn review</a:t>
            </a:r>
            <a:endParaRPr lang="en-GB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"/>
          <p:cNvSpPr/>
          <p:nvPr/>
        </p:nvSpPr>
        <p:spPr>
          <a:xfrm>
            <a:off x="548640" y="685800"/>
            <a:ext cx="943025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Insulate before you replace the boiler</a:t>
            </a:r>
            <a:endParaRPr lang="en-GB" sz="2600" dirty="0"/>
          </a:p>
        </p:txBody>
      </p:sp>
      <p:sp>
        <p:nvSpPr>
          <p:cNvPr id="5" name="Argument 1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77440"/>
            <a:ext cx="3515258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548640" y="2560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</a:t>
            </a:r>
            <a:endParaRPr lang="en-GB" sz="4000" dirty="0"/>
          </a:p>
        </p:txBody>
      </p:sp>
      <p:sp>
        <p:nvSpPr>
          <p:cNvPr id="7" name="Argument 1"/>
          <p:cNvSpPr/>
          <p:nvPr/>
        </p:nvSpPr>
        <p:spPr>
          <a:xfrm>
            <a:off x="548640" y="342900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Heating is most of the bill</a:t>
            </a:r>
            <a:endParaRPr lang="en-GB" sz="1600" dirty="0"/>
          </a:p>
        </p:txBody>
      </p:sp>
      <p:sp>
        <p:nvSpPr>
          <p:cNvPr id="8" name="Argument 1 detail"/>
          <p:cNvSpPr/>
          <p:nvPr/>
        </p:nvSpPr>
        <p:spPr>
          <a:xfrm>
            <a:off x="548640" y="4160520"/>
            <a:ext cx="351525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Two thirds of a home's energy goes into heating rooms.</a:t>
            </a:r>
            <a:endParaRPr lang="en-GB" sz="1400" dirty="0"/>
          </a:p>
        </p:txBody>
      </p:sp>
      <p:sp>
        <p:nvSpPr>
          <p:cNvPr id="9" name="Argument 2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38218" y="2377440"/>
            <a:ext cx="3515258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4338218" y="2560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</a:t>
            </a:r>
            <a:endParaRPr lang="en-GB" sz="4000" dirty="0"/>
          </a:p>
        </p:txBody>
      </p:sp>
      <p:sp>
        <p:nvSpPr>
          <p:cNvPr id="11" name="Argument 2"/>
          <p:cNvSpPr/>
          <p:nvPr/>
        </p:nvSpPr>
        <p:spPr>
          <a:xfrm>
            <a:off x="4338218" y="342900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Lost heat is paid twice</a:t>
            </a:r>
            <a:endParaRPr lang="en-GB" sz="1600" dirty="0"/>
          </a:p>
        </p:txBody>
      </p:sp>
      <p:sp>
        <p:nvSpPr>
          <p:cNvPr id="12" name="Argument 2 detail"/>
          <p:cNvSpPr/>
          <p:nvPr/>
        </p:nvSpPr>
        <p:spPr>
          <a:xfrm>
            <a:off x="4338218" y="4160520"/>
            <a:ext cx="351525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bigger boiler only heats the street faster.</a:t>
            </a:r>
            <a:endParaRPr lang="en-GB" sz="1400" dirty="0"/>
          </a:p>
        </p:txBody>
      </p:sp>
      <p:sp>
        <p:nvSpPr>
          <p:cNvPr id="13" name="Argument 3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7797" y="2377440"/>
            <a:ext cx="3515258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8127797" y="2560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</a:t>
            </a:r>
            <a:endParaRPr lang="en-GB" sz="4000" dirty="0"/>
          </a:p>
        </p:txBody>
      </p:sp>
      <p:sp>
        <p:nvSpPr>
          <p:cNvPr id="15" name="Argument 3"/>
          <p:cNvSpPr/>
          <p:nvPr/>
        </p:nvSpPr>
        <p:spPr>
          <a:xfrm>
            <a:off x="8127797" y="342900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Insulation pays back first</a:t>
            </a:r>
            <a:endParaRPr lang="en-GB" sz="1600" dirty="0"/>
          </a:p>
        </p:txBody>
      </p:sp>
      <p:sp>
        <p:nvSpPr>
          <p:cNvPr id="16" name="Argument 3 detail"/>
          <p:cNvSpPr/>
          <p:nvPr/>
        </p:nvSpPr>
        <p:spPr>
          <a:xfrm>
            <a:off x="8127797" y="4160520"/>
            <a:ext cx="351525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Loft and walls pay back in four to seven years.</a:t>
            </a:r>
            <a:endParaRPr lang="en-GB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 lang="en-GB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GB"/>
              <a:t>16</a:t>
            </a:fld>
            <a:endParaRPr lang="en-GB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Four numbers to watch</a:t>
            </a:r>
            <a:endParaRPr lang="en-GB" sz="2600" dirty="0"/>
          </a:p>
        </p:txBody>
      </p:sp>
      <p:sp>
        <p:nvSpPr>
          <p:cNvPr id="6" name="keyfigure#1 &gt; KPI 1 val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03120"/>
            <a:ext cx="2602154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KPI 1 value"/>
          <p:cNvSpPr/>
          <p:nvPr/>
        </p:nvSpPr>
        <p:spPr>
          <a:xfrm>
            <a:off x="822960" y="237744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66%</a:t>
            </a:r>
            <a:endParaRPr lang="en-GB" sz="4000" dirty="0"/>
          </a:p>
        </p:txBody>
      </p:sp>
      <p:sp>
        <p:nvSpPr>
          <p:cNvPr id="8" name="KPI 1 label"/>
          <p:cNvSpPr/>
          <p:nvPr/>
        </p:nvSpPr>
        <p:spPr>
          <a:xfrm>
            <a:off x="822960" y="3246120"/>
            <a:ext cx="20535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Heating share</a:t>
            </a:r>
            <a:endParaRPr lang="en-GB" sz="1400" dirty="0"/>
          </a:p>
        </p:txBody>
      </p:sp>
      <p:sp>
        <p:nvSpPr>
          <p:cNvPr id="9" name="KPI 1 detail"/>
          <p:cNvSpPr/>
          <p:nvPr/>
        </p:nvSpPr>
        <p:spPr>
          <a:xfrm>
            <a:off x="822960" y="3657600"/>
            <a:ext cx="20535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of home energy use</a:t>
            </a:r>
            <a:endParaRPr lang="en-GB" sz="1200" dirty="0"/>
          </a:p>
        </p:txBody>
      </p:sp>
      <p:sp>
        <p:nvSpPr>
          <p:cNvPr id="10" name="keyfigure#2 &gt; KPI 2 val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79394" y="2103120"/>
            <a:ext cx="2602154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KPI 2 value"/>
          <p:cNvSpPr/>
          <p:nvPr/>
        </p:nvSpPr>
        <p:spPr>
          <a:xfrm>
            <a:off x="3653714" y="237744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3x</a:t>
            </a:r>
            <a:endParaRPr lang="en-GB" sz="4000" dirty="0"/>
          </a:p>
        </p:txBody>
      </p:sp>
      <p:sp>
        <p:nvSpPr>
          <p:cNvPr id="12" name="KPI 2 label"/>
          <p:cNvSpPr/>
          <p:nvPr/>
        </p:nvSpPr>
        <p:spPr>
          <a:xfrm>
            <a:off x="3653714" y="3246120"/>
            <a:ext cx="20535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Heat pump gain</a:t>
            </a:r>
            <a:endParaRPr lang="en-GB" sz="1400" dirty="0"/>
          </a:p>
        </p:txBody>
      </p:sp>
      <p:sp>
        <p:nvSpPr>
          <p:cNvPr id="13" name="KPI 2 detail"/>
          <p:cNvSpPr/>
          <p:nvPr/>
        </p:nvSpPr>
        <p:spPr>
          <a:xfrm>
            <a:off x="3653714" y="3657600"/>
            <a:ext cx="20535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heat out per unit of power in</a:t>
            </a:r>
            <a:endParaRPr lang="en-GB" sz="1200" dirty="0"/>
          </a:p>
        </p:txBody>
      </p:sp>
      <p:sp>
        <p:nvSpPr>
          <p:cNvPr id="14" name="keyfigure#3 &gt; KPI 3 val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0148" y="2103120"/>
            <a:ext cx="2602154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KPI 3 value"/>
          <p:cNvSpPr/>
          <p:nvPr/>
        </p:nvSpPr>
        <p:spPr>
          <a:xfrm>
            <a:off x="6484468" y="237744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 yrs</a:t>
            </a:r>
            <a:endParaRPr lang="en-GB" sz="4000" dirty="0"/>
          </a:p>
        </p:txBody>
      </p:sp>
      <p:sp>
        <p:nvSpPr>
          <p:cNvPr id="16" name="KPI 3 label"/>
          <p:cNvSpPr/>
          <p:nvPr/>
        </p:nvSpPr>
        <p:spPr>
          <a:xfrm>
            <a:off x="6484468" y="3246120"/>
            <a:ext cx="20535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Loft payback</a:t>
            </a:r>
            <a:endParaRPr lang="en-GB" sz="1400" dirty="0"/>
          </a:p>
        </p:txBody>
      </p:sp>
      <p:sp>
        <p:nvSpPr>
          <p:cNvPr id="17" name="KPI 3 detail"/>
          <p:cNvSpPr/>
          <p:nvPr/>
        </p:nvSpPr>
        <p:spPr>
          <a:xfrm>
            <a:off x="6484468" y="3657600"/>
            <a:ext cx="20535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for a typical detached house</a:t>
            </a:r>
            <a:endParaRPr lang="en-GB" sz="1200" dirty="0"/>
          </a:p>
        </p:txBody>
      </p:sp>
      <p:sp>
        <p:nvSpPr>
          <p:cNvPr id="18" name="keyfigure#4 &gt; KPI 4 val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0901" y="2103120"/>
            <a:ext cx="2602154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KPI 4 value"/>
          <p:cNvSpPr/>
          <p:nvPr/>
        </p:nvSpPr>
        <p:spPr>
          <a:xfrm>
            <a:off x="9315221" y="237744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12%</a:t>
            </a:r>
            <a:endParaRPr lang="en-GB" sz="4000" dirty="0"/>
          </a:p>
        </p:txBody>
      </p:sp>
      <p:sp>
        <p:nvSpPr>
          <p:cNvPr id="20" name="KPI 4 label"/>
          <p:cNvSpPr/>
          <p:nvPr/>
        </p:nvSpPr>
        <p:spPr>
          <a:xfrm>
            <a:off x="9315221" y="3246120"/>
            <a:ext cx="20535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Hot water</a:t>
            </a:r>
            <a:endParaRPr lang="en-GB" sz="1400" dirty="0"/>
          </a:p>
        </p:txBody>
      </p:sp>
      <p:sp>
        <p:nvSpPr>
          <p:cNvPr id="21" name="KPI 4 detail"/>
          <p:cNvSpPr/>
          <p:nvPr/>
        </p:nvSpPr>
        <p:spPr>
          <a:xfrm>
            <a:off x="9315221" y="3657600"/>
            <a:ext cx="20535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second largest use</a:t>
            </a:r>
            <a:endParaRPr lang="en-GB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 lang="en-GB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GB"/>
              <a:t>38</a:t>
            </a:fld>
            <a:endParaRPr lang="en-GB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Three places the heat escapes</a:t>
            </a:r>
            <a:endParaRPr lang="en-GB" sz="2600" dirty="0"/>
          </a:p>
        </p:txBody>
      </p:sp>
      <p:sp>
        <p:nvSpPr>
          <p:cNvPr id="7" name="Heading 1"/>
          <p:cNvSpPr/>
          <p:nvPr/>
        </p:nvSpPr>
        <p:spPr>
          <a:xfrm>
            <a:off x="548640" y="292608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Roof</a:t>
            </a:r>
            <a:endParaRPr lang="en-GB" sz="1600" dirty="0"/>
          </a:p>
        </p:txBody>
      </p:sp>
      <p:sp>
        <p:nvSpPr>
          <p:cNvPr id="8" name="Body 1"/>
          <p:cNvSpPr/>
          <p:nvPr/>
        </p:nvSpPr>
        <p:spPr>
          <a:xfrm>
            <a:off x="548640" y="3474720"/>
            <a:ext cx="35152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quarter of the heat leaves through an uninsulated loft.</a:t>
            </a:r>
            <a:endParaRPr lang="en-GB" sz="1400" dirty="0"/>
          </a:p>
        </p:txBody>
      </p:sp>
      <p:sp>
        <p:nvSpPr>
          <p:cNvPr id="10" name="Heading 2"/>
          <p:cNvSpPr/>
          <p:nvPr/>
        </p:nvSpPr>
        <p:spPr>
          <a:xfrm>
            <a:off x="4338218" y="292608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Walls</a:t>
            </a:r>
            <a:endParaRPr lang="en-GB" sz="1600" dirty="0"/>
          </a:p>
        </p:txBody>
      </p:sp>
      <p:sp>
        <p:nvSpPr>
          <p:cNvPr id="11" name="Body 2"/>
          <p:cNvSpPr/>
          <p:nvPr/>
        </p:nvSpPr>
        <p:spPr>
          <a:xfrm>
            <a:off x="4338218" y="3474720"/>
            <a:ext cx="35152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third goes through solid or empty cavity walls.</a:t>
            </a:r>
            <a:endParaRPr lang="en-GB" sz="1400" dirty="0"/>
          </a:p>
        </p:txBody>
      </p:sp>
      <p:sp>
        <p:nvSpPr>
          <p:cNvPr id="13" name="Heading 3"/>
          <p:cNvSpPr/>
          <p:nvPr/>
        </p:nvSpPr>
        <p:spPr>
          <a:xfrm>
            <a:off x="8127797" y="292608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Draughts</a:t>
            </a:r>
            <a:endParaRPr lang="en-GB" sz="1600" dirty="0"/>
          </a:p>
        </p:txBody>
      </p:sp>
      <p:sp>
        <p:nvSpPr>
          <p:cNvPr id="14" name="Body 3"/>
          <p:cNvSpPr/>
          <p:nvPr/>
        </p:nvSpPr>
        <p:spPr>
          <a:xfrm>
            <a:off x="8127797" y="3474720"/>
            <a:ext cx="35152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Gaps around doors and windows add up to an open window.</a:t>
            </a:r>
            <a:endParaRPr lang="en-GB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 lang="en-GB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GB"/>
              <a:t>20</a:t>
            </a:fld>
            <a:endParaRPr lang="en-GB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"/>
          <p:cNvSpPr/>
          <p:nvPr/>
        </p:nvSpPr>
        <p:spPr>
          <a:xfrm>
            <a:off x="548640" y="6858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the survey found</a:t>
            </a:r>
            <a:endParaRPr lang="en-GB" sz="2600" dirty="0"/>
          </a:p>
        </p:txBody>
      </p:sp>
      <p:sp>
        <p:nvSpPr>
          <p:cNvPr id="5" name="Body"/>
          <p:cNvSpPr/>
          <p:nvPr/>
        </p:nvSpPr>
        <p:spPr>
          <a:xfrm>
            <a:off x="548640" y="2103120"/>
            <a:ext cx="6492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GB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Most homes lose heat through the roof first</a:t>
            </a:r>
            <a:endParaRPr lang="en-GB" sz="1600" dirty="0"/>
          </a:p>
          <a:p>
            <a:pPr algn="l" marL="228600" indent="-228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GB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Cavity walls are often half filled</a:t>
            </a:r>
            <a:endParaRPr lang="en-GB" sz="1600" dirty="0"/>
          </a:p>
          <a:p>
            <a:pPr algn="l" marL="228600" indent="-228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GB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Thermostats are set two degrees too high</a:t>
            </a:r>
            <a:endParaRPr lang="en-GB" sz="1600" dirty="0"/>
          </a:p>
        </p:txBody>
      </p:sp>
      <p:sp>
        <p:nvSpPr>
          <p:cNvPr id="6" name="callout#1 &gt; Takeaw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80960" y="2103120"/>
            <a:ext cx="3962095" cy="35661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akeaway label"/>
          <p:cNvSpPr/>
          <p:nvPr/>
        </p:nvSpPr>
        <p:spPr>
          <a:xfrm>
            <a:off x="800100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000" b="1" spc="100" kern="0" dirty="0" cap="all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Takeaway</a:t>
            </a:r>
            <a:endParaRPr lang="en-GB" sz="1000" dirty="0"/>
          </a:p>
        </p:txBody>
      </p:sp>
      <p:sp>
        <p:nvSpPr>
          <p:cNvPr id="8" name="Takeaway"/>
          <p:cNvSpPr/>
          <p:nvPr/>
        </p:nvSpPr>
        <p:spPr>
          <a:xfrm>
            <a:off x="8001000" y="278892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Start with the loft, then the walls, then the controls.</a:t>
            </a:r>
            <a:endParaRPr lang="en-GB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 lang="en-GB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GB"/>
              <a:t>24</a:t>
            </a:fld>
            <a:endParaRPr lang="en-GB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"/>
          <p:cNvSpPr/>
          <p:nvPr/>
        </p:nvSpPr>
        <p:spPr>
          <a:xfrm>
            <a:off x="548640" y="77724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order that works</a:t>
            </a:r>
            <a:endParaRPr lang="en-GB" sz="2600" dirty="0"/>
          </a:p>
        </p:txBody>
      </p:sp>
      <p:sp>
        <p:nvSpPr>
          <p:cNvPr id="5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822960"/>
            <a:ext cx="91" cy="5120640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6" name="Step 1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74980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Step 1 number"/>
          <p:cNvSpPr/>
          <p:nvPr/>
        </p:nvSpPr>
        <p:spPr>
          <a:xfrm>
            <a:off x="5029200" y="749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GB" sz="1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1</a:t>
            </a:r>
            <a:endParaRPr lang="en-GB" sz="1400" dirty="0"/>
          </a:p>
        </p:txBody>
      </p:sp>
      <p:sp>
        <p:nvSpPr>
          <p:cNvPr id="8" name="Step 1"/>
          <p:cNvSpPr/>
          <p:nvPr/>
        </p:nvSpPr>
        <p:spPr>
          <a:xfrm>
            <a:off x="5806440" y="7315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Survey the house</a:t>
            </a:r>
            <a:endParaRPr lang="en-GB" sz="1600" dirty="0"/>
          </a:p>
        </p:txBody>
      </p:sp>
      <p:sp>
        <p:nvSpPr>
          <p:cNvPr id="9" name="Step 1 detail"/>
          <p:cNvSpPr/>
          <p:nvPr/>
        </p:nvSpPr>
        <p:spPr>
          <a:xfrm>
            <a:off x="5806440" y="1143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half-day visit with a thermal camera.</a:t>
            </a:r>
            <a:endParaRPr lang="en-GB" sz="1200" dirty="0"/>
          </a:p>
        </p:txBody>
      </p:sp>
      <p:sp>
        <p:nvSpPr>
          <p:cNvPr id="10" name="Step 2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184708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Step 2 number"/>
          <p:cNvSpPr/>
          <p:nvPr/>
        </p:nvSpPr>
        <p:spPr>
          <a:xfrm>
            <a:off x="502920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GB" sz="1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</a:t>
            </a:r>
            <a:endParaRPr lang="en-GB" sz="1400" dirty="0"/>
          </a:p>
        </p:txBody>
      </p:sp>
      <p:sp>
        <p:nvSpPr>
          <p:cNvPr id="12" name="Step 2"/>
          <p:cNvSpPr/>
          <p:nvPr/>
        </p:nvSpPr>
        <p:spPr>
          <a:xfrm>
            <a:off x="5806440" y="18288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Insulate the loft</a:t>
            </a:r>
            <a:endParaRPr lang="en-GB" sz="1600" dirty="0"/>
          </a:p>
        </p:txBody>
      </p:sp>
      <p:sp>
        <p:nvSpPr>
          <p:cNvPr id="13" name="Step 2 detail"/>
          <p:cNvSpPr/>
          <p:nvPr/>
        </p:nvSpPr>
        <p:spPr>
          <a:xfrm>
            <a:off x="5806440" y="22402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The cheapest heat saved, done in a day.</a:t>
            </a:r>
            <a:endParaRPr lang="en-GB" sz="1200" dirty="0"/>
          </a:p>
        </p:txBody>
      </p:sp>
      <p:sp>
        <p:nvSpPr>
          <p:cNvPr id="14" name="Step 3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294436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Step 3 number"/>
          <p:cNvSpPr/>
          <p:nvPr/>
        </p:nvSpPr>
        <p:spPr>
          <a:xfrm>
            <a:off x="502920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GB" sz="1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</a:t>
            </a:r>
            <a:endParaRPr lang="en-GB" sz="1400" dirty="0"/>
          </a:p>
        </p:txBody>
      </p:sp>
      <p:sp>
        <p:nvSpPr>
          <p:cNvPr id="16" name="Step 3"/>
          <p:cNvSpPr/>
          <p:nvPr/>
        </p:nvSpPr>
        <p:spPr>
          <a:xfrm>
            <a:off x="5806440" y="29260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Fill the walls</a:t>
            </a:r>
            <a:endParaRPr lang="en-GB" sz="1600" dirty="0"/>
          </a:p>
        </p:txBody>
      </p:sp>
      <p:sp>
        <p:nvSpPr>
          <p:cNvPr id="17" name="Step 3 detail"/>
          <p:cNvSpPr/>
          <p:nvPr/>
        </p:nvSpPr>
        <p:spPr>
          <a:xfrm>
            <a:off x="5806440" y="33375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Cavity or external, depending on the walls.</a:t>
            </a:r>
            <a:endParaRPr lang="en-GB" sz="1200" dirty="0"/>
          </a:p>
        </p:txBody>
      </p:sp>
      <p:sp>
        <p:nvSpPr>
          <p:cNvPr id="18" name="Step 4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404164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Step 4 number"/>
          <p:cNvSpPr/>
          <p:nvPr/>
        </p:nvSpPr>
        <p:spPr>
          <a:xfrm>
            <a:off x="502920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GB" sz="1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</a:t>
            </a:r>
            <a:endParaRPr lang="en-GB" sz="1400" dirty="0"/>
          </a:p>
        </p:txBody>
      </p:sp>
      <p:sp>
        <p:nvSpPr>
          <p:cNvPr id="20" name="Step 4"/>
          <p:cNvSpPr/>
          <p:nvPr/>
        </p:nvSpPr>
        <p:spPr>
          <a:xfrm>
            <a:off x="5806440" y="40233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Fix the controls</a:t>
            </a:r>
            <a:endParaRPr lang="en-GB" sz="1600" dirty="0"/>
          </a:p>
        </p:txBody>
      </p:sp>
      <p:sp>
        <p:nvSpPr>
          <p:cNvPr id="21" name="Step 4 detail"/>
          <p:cNvSpPr/>
          <p:nvPr/>
        </p:nvSpPr>
        <p:spPr>
          <a:xfrm>
            <a:off x="5806440" y="44348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Room thermostats and a smart timer.</a:t>
            </a:r>
            <a:endParaRPr lang="en-GB" sz="1200" dirty="0"/>
          </a:p>
        </p:txBody>
      </p:sp>
      <p:sp>
        <p:nvSpPr>
          <p:cNvPr id="22" name="Step 5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513892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3" name="Step 5 number"/>
          <p:cNvSpPr/>
          <p:nvPr/>
        </p:nvSpPr>
        <p:spPr>
          <a:xfrm>
            <a:off x="502920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GB" sz="1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</a:t>
            </a:r>
            <a:endParaRPr lang="en-GB" sz="1400" dirty="0"/>
          </a:p>
        </p:txBody>
      </p:sp>
      <p:sp>
        <p:nvSpPr>
          <p:cNvPr id="24" name="Step 5"/>
          <p:cNvSpPr/>
          <p:nvPr/>
        </p:nvSpPr>
        <p:spPr>
          <a:xfrm>
            <a:off x="5806440" y="51206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Size the heat pump</a:t>
            </a:r>
            <a:endParaRPr lang="en-GB" sz="1600" dirty="0"/>
          </a:p>
        </p:txBody>
      </p:sp>
      <p:sp>
        <p:nvSpPr>
          <p:cNvPr id="25" name="Step 5 detail"/>
          <p:cNvSpPr/>
          <p:nvPr/>
        </p:nvSpPr>
        <p:spPr>
          <a:xfrm>
            <a:off x="5806440" y="55321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Smaller, once the losses are down.</a:t>
            </a:r>
            <a:endParaRPr lang="en-GB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 lang="en-GB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GB"/>
              <a:t>54</a:t>
            </a:fld>
            <a:endParaRPr lang="en-GB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Four steps, one year</a:t>
            </a:r>
            <a:endParaRPr lang="en-GB" sz="2600" dirty="0"/>
          </a:p>
        </p:txBody>
      </p:sp>
      <p:sp>
        <p:nvSpPr>
          <p:cNvPr id="6" name="Number 1"/>
          <p:cNvSpPr/>
          <p:nvPr/>
        </p:nvSpPr>
        <p:spPr>
          <a:xfrm>
            <a:off x="548640" y="214884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24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01</a:t>
            </a:r>
            <a:endParaRPr lang="en-GB" sz="2400" dirty="0"/>
          </a:p>
        </p:txBody>
      </p:sp>
      <p:sp>
        <p:nvSpPr>
          <p:cNvPr id="7" name="Heading 1"/>
          <p:cNvSpPr/>
          <p:nvPr/>
        </p:nvSpPr>
        <p:spPr>
          <a:xfrm>
            <a:off x="548640" y="278892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Winter</a:t>
            </a:r>
            <a:endParaRPr lang="en-GB" sz="1600" dirty="0"/>
          </a:p>
        </p:txBody>
      </p:sp>
      <p:sp>
        <p:nvSpPr>
          <p:cNvPr id="8" name="Body 1"/>
          <p:cNvSpPr/>
          <p:nvPr/>
        </p:nvSpPr>
        <p:spPr>
          <a:xfrm>
            <a:off x="548640" y="3520440"/>
            <a:ext cx="25678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Survey and quotes while heating needs are visible.</a:t>
            </a:r>
            <a:endParaRPr lang="en-GB" sz="1200" dirty="0"/>
          </a:p>
        </p:txBody>
      </p:sp>
      <p:sp>
        <p:nvSpPr>
          <p:cNvPr id="9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53664" y="2148840"/>
            <a:ext cx="91" cy="3749040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3390824" y="214884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24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02</a:t>
            </a:r>
            <a:endParaRPr lang="en-GB" sz="2400" dirty="0"/>
          </a:p>
        </p:txBody>
      </p:sp>
      <p:sp>
        <p:nvSpPr>
          <p:cNvPr id="11" name="Heading 2"/>
          <p:cNvSpPr/>
          <p:nvPr/>
        </p:nvSpPr>
        <p:spPr>
          <a:xfrm>
            <a:off x="3390824" y="278892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Spring</a:t>
            </a:r>
            <a:endParaRPr lang="en-GB" sz="1600" dirty="0"/>
          </a:p>
        </p:txBody>
      </p:sp>
      <p:sp>
        <p:nvSpPr>
          <p:cNvPr id="12" name="Body 2"/>
          <p:cNvSpPr/>
          <p:nvPr/>
        </p:nvSpPr>
        <p:spPr>
          <a:xfrm>
            <a:off x="3390824" y="3520440"/>
            <a:ext cx="25678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Loft and draught proofing before the warm months.</a:t>
            </a:r>
            <a:endParaRPr lang="en-GB" sz="1200" dirty="0"/>
          </a:p>
        </p:txBody>
      </p:sp>
      <p:sp>
        <p:nvSpPr>
          <p:cNvPr id="13" name="decoration#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848" y="2148840"/>
            <a:ext cx="91" cy="3749040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6233008" y="214884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24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03</a:t>
            </a:r>
            <a:endParaRPr lang="en-GB" sz="2400" dirty="0"/>
          </a:p>
        </p:txBody>
      </p:sp>
      <p:sp>
        <p:nvSpPr>
          <p:cNvPr id="15" name="Heading 3"/>
          <p:cNvSpPr/>
          <p:nvPr/>
        </p:nvSpPr>
        <p:spPr>
          <a:xfrm>
            <a:off x="6233008" y="278892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Summer</a:t>
            </a:r>
            <a:endParaRPr lang="en-GB" sz="1600" dirty="0"/>
          </a:p>
        </p:txBody>
      </p:sp>
      <p:sp>
        <p:nvSpPr>
          <p:cNvPr id="16" name="Body 3"/>
          <p:cNvSpPr/>
          <p:nvPr/>
        </p:nvSpPr>
        <p:spPr>
          <a:xfrm>
            <a:off x="6233008" y="3520440"/>
            <a:ext cx="25678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Wall insulation in dry weather.</a:t>
            </a:r>
            <a:endParaRPr lang="en-GB" sz="1200" dirty="0"/>
          </a:p>
        </p:txBody>
      </p:sp>
      <p:sp>
        <p:nvSpPr>
          <p:cNvPr id="17" name="decoration#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8031" y="2148840"/>
            <a:ext cx="91" cy="3749040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8" name="Number 4"/>
          <p:cNvSpPr/>
          <p:nvPr/>
        </p:nvSpPr>
        <p:spPr>
          <a:xfrm>
            <a:off x="9075191" y="214884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24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04</a:t>
            </a:r>
            <a:endParaRPr lang="en-GB" sz="2400" dirty="0"/>
          </a:p>
        </p:txBody>
      </p:sp>
      <p:sp>
        <p:nvSpPr>
          <p:cNvPr id="19" name="Heading 4"/>
          <p:cNvSpPr/>
          <p:nvPr/>
        </p:nvSpPr>
        <p:spPr>
          <a:xfrm>
            <a:off x="9075191" y="278892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Autumn</a:t>
            </a:r>
            <a:endParaRPr lang="en-GB" sz="1600" dirty="0"/>
          </a:p>
        </p:txBody>
      </p:sp>
      <p:sp>
        <p:nvSpPr>
          <p:cNvPr id="20" name="Body 4"/>
          <p:cNvSpPr/>
          <p:nvPr/>
        </p:nvSpPr>
        <p:spPr>
          <a:xfrm>
            <a:off x="9075191" y="3520440"/>
            <a:ext cx="25678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Controls and heat pump ready for the cold.</a:t>
            </a:r>
            <a:endParaRPr lang="en-GB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 lang="en-GB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GB"/>
              <a:t>21</a:t>
            </a:fld>
            <a:endParaRPr lang="en-GB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it saves</a:t>
            </a:r>
            <a:endParaRPr lang="en-GB" sz="2600" dirty="0"/>
          </a:p>
        </p:txBody>
      </p:sp>
      <p:sp>
        <p:nvSpPr>
          <p:cNvPr id="6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77440"/>
            <a:ext cx="3515258" cy="91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7" name="KPI 1 value"/>
          <p:cNvSpPr/>
          <p:nvPr/>
        </p:nvSpPr>
        <p:spPr>
          <a:xfrm>
            <a:off x="548640" y="2560320"/>
            <a:ext cx="3515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6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-35%</a:t>
            </a:r>
            <a:endParaRPr lang="en-GB" sz="6000" dirty="0"/>
          </a:p>
        </p:txBody>
      </p:sp>
      <p:sp>
        <p:nvSpPr>
          <p:cNvPr id="8" name="KPI 1 label"/>
          <p:cNvSpPr/>
          <p:nvPr/>
        </p:nvSpPr>
        <p:spPr>
          <a:xfrm>
            <a:off x="548640" y="370332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Heating demand</a:t>
            </a:r>
            <a:endParaRPr lang="en-GB" sz="1400" dirty="0"/>
          </a:p>
        </p:txBody>
      </p:sp>
      <p:sp>
        <p:nvSpPr>
          <p:cNvPr id="9" name="KPI 1 detail"/>
          <p:cNvSpPr/>
          <p:nvPr/>
        </p:nvSpPr>
        <p:spPr>
          <a:xfrm>
            <a:off x="548640" y="41148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after loft and walls</a:t>
            </a:r>
            <a:endParaRPr lang="en-GB" sz="1200" dirty="0"/>
          </a:p>
        </p:txBody>
      </p:sp>
      <p:sp>
        <p:nvSpPr>
          <p:cNvPr id="10" name="decoration#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38218" y="2377440"/>
            <a:ext cx="3515258" cy="91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1" name="KPI 2 value"/>
          <p:cNvSpPr/>
          <p:nvPr/>
        </p:nvSpPr>
        <p:spPr>
          <a:xfrm>
            <a:off x="4338218" y="2560320"/>
            <a:ext cx="3515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6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-50%</a:t>
            </a:r>
            <a:endParaRPr lang="en-GB" sz="6000" dirty="0"/>
          </a:p>
        </p:txBody>
      </p:sp>
      <p:sp>
        <p:nvSpPr>
          <p:cNvPr id="12" name="KPI 2 label"/>
          <p:cNvSpPr/>
          <p:nvPr/>
        </p:nvSpPr>
        <p:spPr>
          <a:xfrm>
            <a:off x="4338218" y="370332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Running cost</a:t>
            </a:r>
            <a:endParaRPr lang="en-GB" sz="1400" dirty="0"/>
          </a:p>
        </p:txBody>
      </p:sp>
      <p:sp>
        <p:nvSpPr>
          <p:cNvPr id="13" name="KPI 2 detail"/>
          <p:cNvSpPr/>
          <p:nvPr/>
        </p:nvSpPr>
        <p:spPr>
          <a:xfrm>
            <a:off x="4338218" y="41148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with a smaller heat pump</a:t>
            </a:r>
            <a:endParaRPr lang="en-GB" sz="1200" dirty="0"/>
          </a:p>
        </p:txBody>
      </p:sp>
      <p:sp>
        <p:nvSpPr>
          <p:cNvPr id="14" name="decoration#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7797" y="2377440"/>
            <a:ext cx="3515258" cy="91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5" name="KPI 3 value"/>
          <p:cNvSpPr/>
          <p:nvPr/>
        </p:nvSpPr>
        <p:spPr>
          <a:xfrm>
            <a:off x="8127797" y="2560320"/>
            <a:ext cx="3515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6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 yrs</a:t>
            </a:r>
            <a:endParaRPr lang="en-GB" sz="6000" dirty="0"/>
          </a:p>
        </p:txBody>
      </p:sp>
      <p:sp>
        <p:nvSpPr>
          <p:cNvPr id="16" name="KPI 3 label"/>
          <p:cNvSpPr/>
          <p:nvPr/>
        </p:nvSpPr>
        <p:spPr>
          <a:xfrm>
            <a:off x="8127797" y="370332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Overall payback</a:t>
            </a:r>
            <a:endParaRPr lang="en-GB" sz="1400" dirty="0"/>
          </a:p>
        </p:txBody>
      </p:sp>
      <p:sp>
        <p:nvSpPr>
          <p:cNvPr id="17" name="KPI 3 detail"/>
          <p:cNvSpPr/>
          <p:nvPr/>
        </p:nvSpPr>
        <p:spPr>
          <a:xfrm>
            <a:off x="8127797" y="41148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for the whole plan</a:t>
            </a:r>
            <a:endParaRPr lang="en-GB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 lang="en-GB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GB"/>
              <a:t>37</a:t>
            </a:fld>
            <a:endParaRPr lang="en-GB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Next steps</a:t>
            </a:r>
            <a:endParaRPr lang="en-GB" sz="2600" dirty="0"/>
          </a:p>
        </p:txBody>
      </p:sp>
      <p:sp>
        <p:nvSpPr>
          <p:cNvPr id="6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788920"/>
            <a:ext cx="11094415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7" name="Step 1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679192"/>
            <a:ext cx="219456" cy="219456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8" name="Date 1"/>
          <p:cNvSpPr/>
          <p:nvPr/>
        </p:nvSpPr>
        <p:spPr>
          <a:xfrm>
            <a:off x="548640" y="21488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month</a:t>
            </a:r>
            <a:endParaRPr lang="en-GB" sz="1000" dirty="0"/>
          </a:p>
        </p:txBody>
      </p:sp>
      <p:sp>
        <p:nvSpPr>
          <p:cNvPr id="9" name="Step 1"/>
          <p:cNvSpPr/>
          <p:nvPr/>
        </p:nvSpPr>
        <p:spPr>
          <a:xfrm>
            <a:off x="548640" y="315468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Book the survey</a:t>
            </a:r>
            <a:endParaRPr lang="en-GB" sz="1600" dirty="0"/>
          </a:p>
        </p:txBody>
      </p:sp>
      <p:sp>
        <p:nvSpPr>
          <p:cNvPr id="11" name="Owner 1"/>
          <p:cNvSpPr/>
          <p:nvPr/>
        </p:nvSpPr>
        <p:spPr>
          <a:xfrm>
            <a:off x="548640" y="539496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Household</a:t>
            </a:r>
            <a:endParaRPr lang="en-GB" sz="1000" dirty="0"/>
          </a:p>
        </p:txBody>
      </p:sp>
      <p:sp>
        <p:nvSpPr>
          <p:cNvPr id="12" name="Step 2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0824" y="2679192"/>
            <a:ext cx="219456" cy="21945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3" name="Date 2"/>
          <p:cNvSpPr/>
          <p:nvPr/>
        </p:nvSpPr>
        <p:spPr>
          <a:xfrm>
            <a:off x="3390824" y="21488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 month</a:t>
            </a:r>
            <a:endParaRPr lang="en-GB" sz="1000" dirty="0"/>
          </a:p>
        </p:txBody>
      </p:sp>
      <p:sp>
        <p:nvSpPr>
          <p:cNvPr id="14" name="Step 2"/>
          <p:cNvSpPr/>
          <p:nvPr/>
        </p:nvSpPr>
        <p:spPr>
          <a:xfrm>
            <a:off x="3390824" y="315468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Compare three quotes</a:t>
            </a:r>
            <a:endParaRPr lang="en-GB" sz="1600" dirty="0"/>
          </a:p>
        </p:txBody>
      </p:sp>
      <p:sp>
        <p:nvSpPr>
          <p:cNvPr id="16" name="Owner 2"/>
          <p:cNvSpPr/>
          <p:nvPr/>
        </p:nvSpPr>
        <p:spPr>
          <a:xfrm>
            <a:off x="3390824" y="539496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Household</a:t>
            </a:r>
            <a:endParaRPr lang="en-GB" sz="1000" dirty="0"/>
          </a:p>
        </p:txBody>
      </p:sp>
      <p:sp>
        <p:nvSpPr>
          <p:cNvPr id="17" name="Step 3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8" y="2679192"/>
            <a:ext cx="219456" cy="21945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8" name="Date 3"/>
          <p:cNvSpPr/>
          <p:nvPr/>
        </p:nvSpPr>
        <p:spPr>
          <a:xfrm>
            <a:off x="6233008" y="21488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Spring</a:t>
            </a:r>
            <a:endParaRPr lang="en-GB" sz="1000" dirty="0"/>
          </a:p>
        </p:txBody>
      </p:sp>
      <p:sp>
        <p:nvSpPr>
          <p:cNvPr id="19" name="Step 3"/>
          <p:cNvSpPr/>
          <p:nvPr/>
        </p:nvSpPr>
        <p:spPr>
          <a:xfrm>
            <a:off x="6233008" y="315468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Insulate the loft</a:t>
            </a:r>
            <a:endParaRPr lang="en-GB" sz="1600" dirty="0"/>
          </a:p>
        </p:txBody>
      </p:sp>
      <p:sp>
        <p:nvSpPr>
          <p:cNvPr id="21" name="Owner 3"/>
          <p:cNvSpPr/>
          <p:nvPr/>
        </p:nvSpPr>
        <p:spPr>
          <a:xfrm>
            <a:off x="6233008" y="539496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Installer</a:t>
            </a:r>
            <a:endParaRPr lang="en-GB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 lang="en-GB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GB"/>
              <a:t>48</a:t>
            </a:fld>
            <a:endParaRPr lang="en-GB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48640" y="15544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GB" sz="6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  <a:endParaRPr lang="en-GB" sz="6000" dirty="0"/>
          </a:p>
        </p:txBody>
      </p:sp>
      <p:sp>
        <p:nvSpPr>
          <p:cNvPr id="3" name="Subtitle"/>
          <p:cNvSpPr/>
          <p:nvPr/>
        </p:nvSpPr>
        <p:spPr>
          <a:xfrm>
            <a:off x="548640" y="2971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Questions and next visit</a:t>
            </a:r>
            <a:endParaRPr lang="en-GB" sz="1600" dirty="0"/>
          </a:p>
        </p:txBody>
      </p:sp>
      <p:sp>
        <p:nvSpPr>
          <p:cNvPr id="4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114800"/>
            <a:ext cx="11094415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5" name="Contact 1 name"/>
          <p:cNvSpPr/>
          <p:nvPr/>
        </p:nvSpPr>
        <p:spPr>
          <a:xfrm>
            <a:off x="548640" y="42976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Energy advice desk</a:t>
            </a:r>
            <a:endParaRPr lang="en-GB" sz="1600" dirty="0"/>
          </a:p>
        </p:txBody>
      </p:sp>
      <p:sp>
        <p:nvSpPr>
          <p:cNvPr id="6" name="Contact 1 role"/>
          <p:cNvSpPr/>
          <p:nvPr/>
        </p:nvSpPr>
        <p:spPr>
          <a:xfrm>
            <a:off x="548640" y="466344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Free survey booking</a:t>
            </a:r>
            <a:endParaRPr lang="en-GB" sz="1200" dirty="0"/>
          </a:p>
        </p:txBody>
      </p:sp>
      <p:sp>
        <p:nvSpPr>
          <p:cNvPr id="8" name="Contact 2 name"/>
          <p:cNvSpPr/>
          <p:nvPr/>
        </p:nvSpPr>
        <p:spPr>
          <a:xfrm>
            <a:off x="4338218" y="42976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Local installers list</a:t>
            </a:r>
            <a:endParaRPr lang="en-GB" sz="1600" dirty="0"/>
          </a:p>
        </p:txBody>
      </p:sp>
      <p:sp>
        <p:nvSpPr>
          <p:cNvPr id="9" name="Contact 2 role"/>
          <p:cNvSpPr/>
          <p:nvPr/>
        </p:nvSpPr>
        <p:spPr>
          <a:xfrm>
            <a:off x="4338218" y="466344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GB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Approved for grants</a:t>
            </a:r>
            <a:endParaRPr lang="en-GB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 lang="en-GB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GB"/>
              <a:t>49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ke Clean Neutral">
  <a:themeElements>
    <a:clrScheme name="Make Clean Neutral">
      <a:dk1>
        <a:srgbClr val="111111"/>
      </a:dk1>
      <a:lt1>
        <a:srgbClr val="FFFFFF"/>
      </a:lt1>
      <a:dk2>
        <a:srgbClr val="404040"/>
      </a:dk2>
      <a:lt2>
        <a:srgbClr val="F2F2F2"/>
      </a:lt2>
      <a:accent1>
        <a:srgbClr val="1F1F1F"/>
      </a:accent1>
      <a:accent2>
        <a:srgbClr val="595959"/>
      </a:accent2>
      <a:accent3>
        <a:srgbClr val="8C8C8C"/>
      </a:accent3>
      <a:accent4>
        <a:srgbClr val="B3B3B3"/>
      </a:accent4>
      <a:accent5>
        <a:srgbClr val="D0D0D0"/>
      </a:accent5>
      <a:accent6>
        <a:srgbClr val="E6E6E6"/>
      </a:accent6>
      <a:hlink>
        <a:srgbClr val="404040"/>
      </a:hlink>
      <a:folHlink>
        <a:srgbClr val="8C8C8C"/>
      </a:folHlink>
    </a:clrScheme>
    <a:fontScheme name="Make Clean Neutr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github.com/MaximeRumpler/Make_Clean_PPTX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2026-10-25T00:00:00Z</dcterms:created>
  <dcterms:modified xsi:type="dcterms:W3CDTF">2026-10-25T00:00:00Z</dcterms:modified>
  <dc:language>en-GB</dc:language>
  <cp:keywords/>
  <dc:description/>
</cp:coreProperties>
</file>